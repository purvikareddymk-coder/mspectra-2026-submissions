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7" r:id="rId5"/>
    <p:sldId id="308" r:id="rId6"/>
    <p:sldId id="320" r:id="rId7"/>
    <p:sldId id="309" r:id="rId8"/>
    <p:sldId id="321" r:id="rId9"/>
    <p:sldId id="263" r:id="rId10"/>
    <p:sldId id="3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022A8-A6FA-4172-A301-ECBD54316A60}" v="5" dt="2026-04-04T10:31:27.907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805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ika Reddy" userId="54a7c95cac1ab643" providerId="LiveId" clId="{941471CE-002E-43F3-9D61-E93D8FA7E4AF}"/>
    <pc:docChg chg="custSel addSld delSld modSld">
      <pc:chgData name="purvika Reddy" userId="54a7c95cac1ab643" providerId="LiveId" clId="{941471CE-002E-43F3-9D61-E93D8FA7E4AF}" dt="2026-04-04T10:31:33.613" v="93" actId="20577"/>
      <pc:docMkLst>
        <pc:docMk/>
      </pc:docMkLst>
      <pc:sldChg chg="modSp mod modNotesTx">
        <pc:chgData name="purvika Reddy" userId="54a7c95cac1ab643" providerId="LiveId" clId="{941471CE-002E-43F3-9D61-E93D8FA7E4AF}" dt="2026-04-04T10:00:14.607" v="91" actId="14100"/>
        <pc:sldMkLst>
          <pc:docMk/>
          <pc:sldMk cId="1096717490" sldId="263"/>
        </pc:sldMkLst>
        <pc:spChg chg="mod">
          <ac:chgData name="purvika Reddy" userId="54a7c95cac1ab643" providerId="LiveId" clId="{941471CE-002E-43F3-9D61-E93D8FA7E4AF}" dt="2026-04-04T10:00:14.607" v="91" actId="14100"/>
          <ac:spMkLst>
            <pc:docMk/>
            <pc:sldMk cId="1096717490" sldId="263"/>
            <ac:spMk id="15" creationId="{C7846849-DC0A-EE3B-2E5E-D669EC1273D6}"/>
          </ac:spMkLst>
        </pc:spChg>
      </pc:sldChg>
      <pc:sldChg chg="modNotesTx">
        <pc:chgData name="purvika Reddy" userId="54a7c95cac1ab643" providerId="LiveId" clId="{941471CE-002E-43F3-9D61-E93D8FA7E4AF}" dt="2026-04-04T09:19:01.452" v="7" actId="20577"/>
        <pc:sldMkLst>
          <pc:docMk/>
          <pc:sldMk cId="2222324472" sldId="308"/>
        </pc:sldMkLst>
      </pc:sldChg>
      <pc:sldChg chg="addSp delSp modSp mod modNotesTx">
        <pc:chgData name="purvika Reddy" userId="54a7c95cac1ab643" providerId="LiveId" clId="{941471CE-002E-43F3-9D61-E93D8FA7E4AF}" dt="2026-04-04T10:20:22.992" v="92" actId="20577"/>
        <pc:sldMkLst>
          <pc:docMk/>
          <pc:sldMk cId="1966913227" sldId="309"/>
        </pc:sldMkLst>
        <pc:spChg chg="mod">
          <ac:chgData name="purvika Reddy" userId="54a7c95cac1ab643" providerId="LiveId" clId="{941471CE-002E-43F3-9D61-E93D8FA7E4AF}" dt="2026-04-04T09:32:14.970" v="48" actId="1076"/>
          <ac:spMkLst>
            <pc:docMk/>
            <pc:sldMk cId="1966913227" sldId="309"/>
            <ac:spMk id="2" creationId="{EC529C2B-F44A-E1AB-4CD3-AB1A49B6A701}"/>
          </ac:spMkLst>
        </pc:spChg>
        <pc:spChg chg="add del mod">
          <ac:chgData name="purvika Reddy" userId="54a7c95cac1ab643" providerId="LiveId" clId="{941471CE-002E-43F3-9D61-E93D8FA7E4AF}" dt="2026-04-04T09:21:40.654" v="34" actId="478"/>
          <ac:spMkLst>
            <pc:docMk/>
            <pc:sldMk cId="1966913227" sldId="309"/>
            <ac:spMk id="5" creationId="{25CC210C-F4B2-DE4E-51DB-0A49530D34F9}"/>
          </ac:spMkLst>
        </pc:spChg>
        <pc:spChg chg="del mod">
          <ac:chgData name="purvika Reddy" userId="54a7c95cac1ab643" providerId="LiveId" clId="{941471CE-002E-43F3-9D61-E93D8FA7E4AF}" dt="2026-04-04T09:21:37.082" v="33" actId="478"/>
          <ac:spMkLst>
            <pc:docMk/>
            <pc:sldMk cId="1966913227" sldId="309"/>
            <ac:spMk id="8" creationId="{BCFDA37B-399A-B9F0-7A7D-2A891EB7FFA6}"/>
          </ac:spMkLst>
        </pc:spChg>
      </pc:sldChg>
      <pc:sldChg chg="modSp mod">
        <pc:chgData name="purvika Reddy" userId="54a7c95cac1ab643" providerId="LiveId" clId="{941471CE-002E-43F3-9D61-E93D8FA7E4AF}" dt="2026-04-04T10:31:33.613" v="93" actId="20577"/>
        <pc:sldMkLst>
          <pc:docMk/>
          <pc:sldMk cId="3919736578" sldId="320"/>
        </pc:sldMkLst>
        <pc:spChg chg="mod">
          <ac:chgData name="purvika Reddy" userId="54a7c95cac1ab643" providerId="LiveId" clId="{941471CE-002E-43F3-9D61-E93D8FA7E4AF}" dt="2026-04-04T10:31:33.613" v="93" actId="20577"/>
          <ac:spMkLst>
            <pc:docMk/>
            <pc:sldMk cId="3919736578" sldId="320"/>
            <ac:spMk id="2" creationId="{78DAEC59-2710-8C73-A507-F72181BF636E}"/>
          </ac:spMkLst>
        </pc:spChg>
      </pc:sldChg>
      <pc:sldChg chg="delSp modSp add mod">
        <pc:chgData name="purvika Reddy" userId="54a7c95cac1ab643" providerId="LiveId" clId="{941471CE-002E-43F3-9D61-E93D8FA7E4AF}" dt="2026-04-04T09:21:16.174" v="32" actId="1076"/>
        <pc:sldMkLst>
          <pc:docMk/>
          <pc:sldMk cId="770820170" sldId="321"/>
        </pc:sldMkLst>
        <pc:spChg chg="del mod">
          <ac:chgData name="purvika Reddy" userId="54a7c95cac1ab643" providerId="LiveId" clId="{941471CE-002E-43F3-9D61-E93D8FA7E4AF}" dt="2026-04-04T09:21:01.528" v="28"/>
          <ac:spMkLst>
            <pc:docMk/>
            <pc:sldMk cId="770820170" sldId="321"/>
            <ac:spMk id="2" creationId="{E4DF1737-9E6F-746B-7764-B43929263558}"/>
          </ac:spMkLst>
        </pc:spChg>
        <pc:spChg chg="mod">
          <ac:chgData name="purvika Reddy" userId="54a7c95cac1ab643" providerId="LiveId" clId="{941471CE-002E-43F3-9D61-E93D8FA7E4AF}" dt="2026-04-04T09:21:16.174" v="32" actId="1076"/>
          <ac:spMkLst>
            <pc:docMk/>
            <pc:sldMk cId="770820170" sldId="321"/>
            <ac:spMk id="8" creationId="{404E44A7-19B1-3917-B93E-5A9D405464C9}"/>
          </ac:spMkLst>
        </pc:spChg>
        <pc:spChg chg="mod">
          <ac:chgData name="purvika Reddy" userId="54a7c95cac1ab643" providerId="LiveId" clId="{941471CE-002E-43F3-9D61-E93D8FA7E4AF}" dt="2026-04-04T09:21:14.077" v="31" actId="1076"/>
          <ac:spMkLst>
            <pc:docMk/>
            <pc:sldMk cId="770820170" sldId="321"/>
            <ac:spMk id="19" creationId="{A0ACE72F-9800-EC11-79BD-8F9FF1399514}"/>
          </ac:spMkLst>
        </pc:spChg>
      </pc:sldChg>
      <pc:sldChg chg="addSp delSp new del mod">
        <pc:chgData name="purvika Reddy" userId="54a7c95cac1ab643" providerId="LiveId" clId="{941471CE-002E-43F3-9D61-E93D8FA7E4AF}" dt="2026-04-04T09:20:45.131" v="23" actId="47"/>
        <pc:sldMkLst>
          <pc:docMk/>
          <pc:sldMk cId="1453427176" sldId="321"/>
        </pc:sldMkLst>
        <pc:spChg chg="del">
          <ac:chgData name="purvika Reddy" userId="54a7c95cac1ab643" providerId="LiveId" clId="{941471CE-002E-43F3-9D61-E93D8FA7E4AF}" dt="2026-04-04T09:20:34.067" v="20" actId="478"/>
          <ac:spMkLst>
            <pc:docMk/>
            <pc:sldMk cId="1453427176" sldId="321"/>
            <ac:spMk id="2" creationId="{801763D1-931D-4CC3-6004-FA837D0766E9}"/>
          </ac:spMkLst>
        </pc:spChg>
        <pc:spChg chg="del">
          <ac:chgData name="purvika Reddy" userId="54a7c95cac1ab643" providerId="LiveId" clId="{941471CE-002E-43F3-9D61-E93D8FA7E4AF}" dt="2026-04-04T09:20:34.067" v="20" actId="478"/>
          <ac:spMkLst>
            <pc:docMk/>
            <pc:sldMk cId="1453427176" sldId="321"/>
            <ac:spMk id="3" creationId="{68AA753B-9AF2-E6FB-B7B6-775ECA78B5A8}"/>
          </ac:spMkLst>
        </pc:spChg>
        <pc:spChg chg="add del">
          <ac:chgData name="purvika Reddy" userId="54a7c95cac1ab643" providerId="LiveId" clId="{941471CE-002E-43F3-9D61-E93D8FA7E4AF}" dt="2026-04-04T09:20:43.503" v="22" actId="478"/>
          <ac:spMkLst>
            <pc:docMk/>
            <pc:sldMk cId="1453427176" sldId="321"/>
            <ac:spMk id="6" creationId="{13F3EC93-59E9-5AB0-F036-95A27F9F3E9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just face value</a:t>
            </a:r>
          </a:p>
          <a:p>
            <a:r>
              <a:rPr lang="en-US" dirty="0"/>
              <a:t>Real pain – not extracting text, govt </a:t>
            </a:r>
            <a:r>
              <a:rPr lang="en-US" dirty="0" err="1"/>
              <a:t>tendor</a:t>
            </a:r>
            <a:r>
              <a:rPr lang="en-US" dirty="0"/>
              <a:t> is diff</a:t>
            </a:r>
          </a:p>
          <a:p>
            <a:endParaRPr lang="en-US" dirty="0"/>
          </a:p>
          <a:p>
            <a:r>
              <a:rPr lang="en-US" dirty="0"/>
              <a:t>Hidden challenge: no search problem, interpretation problem</a:t>
            </a:r>
          </a:p>
          <a:p>
            <a:r>
              <a:rPr lang="en-US" dirty="0"/>
              <a:t>(no keywords matching help)</a:t>
            </a:r>
          </a:p>
          <a:p>
            <a:endParaRPr lang="en-US" dirty="0"/>
          </a:p>
          <a:p>
            <a:r>
              <a:rPr lang="en-US" dirty="0"/>
              <a:t>Constraint: work on messy, real world pdf’s not clean ones</a:t>
            </a:r>
          </a:p>
          <a:p>
            <a:endParaRPr lang="en-US" dirty="0"/>
          </a:p>
          <a:p>
            <a:r>
              <a:rPr lang="en-US" dirty="0"/>
              <a:t>Needs to be consistent across docs by diff people, </a:t>
            </a:r>
            <a:r>
              <a:rPr lang="en-US" dirty="0" err="1"/>
              <a:t>dif</a:t>
            </a:r>
            <a:r>
              <a:rPr lang="en-US" dirty="0"/>
              <a:t> format, over years</a:t>
            </a:r>
          </a:p>
          <a:p>
            <a:endParaRPr lang="en-US" dirty="0"/>
          </a:p>
          <a:p>
            <a:r>
              <a:rPr lang="en-US" dirty="0"/>
              <a:t>That shaped everything about how we built our solution.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099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HLD (High Level Design):</a:t>
            </a:r>
          </a:p>
          <a:p>
            <a:r>
              <a:rPr lang="en-IN" b="1" dirty="0"/>
              <a:t>3. Component Breakdown</a:t>
            </a:r>
          </a:p>
          <a:p>
            <a:r>
              <a:rPr lang="en-IN" b="1" dirty="0"/>
              <a:t>1. Input Layer</a:t>
            </a:r>
          </a:p>
          <a:p>
            <a:r>
              <a:rPr lang="en-IN" dirty="0"/>
              <a:t>Accepts: PDF / Excel / TXT </a:t>
            </a:r>
          </a:p>
          <a:p>
            <a:r>
              <a:rPr lang="en-IN" dirty="0"/>
              <a:t>Handles real-world messy documents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File Detection Module</a:t>
            </a:r>
          </a:p>
          <a:p>
            <a:r>
              <a:rPr lang="en-IN" dirty="0"/>
              <a:t>Identifies file type using: </a:t>
            </a:r>
          </a:p>
          <a:p>
            <a:pPr lvl="1"/>
            <a:r>
              <a:rPr lang="en-IN" dirty="0"/>
              <a:t>Extension </a:t>
            </a:r>
          </a:p>
          <a:p>
            <a:pPr lvl="1"/>
            <a:r>
              <a:rPr lang="en-IN" dirty="0"/>
              <a:t>Binary signature (fallback)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3. Extraction Layer (Core Strength)</a:t>
            </a:r>
          </a:p>
          <a:p>
            <a:r>
              <a:rPr lang="en-IN" b="1" dirty="0"/>
              <a:t>Multi-strategy extraction:</a:t>
            </a:r>
            <a:endParaRPr lang="en-IN" dirty="0"/>
          </a:p>
          <a:p>
            <a:r>
              <a:rPr lang="en-IN" dirty="0"/>
              <a:t>Text → </a:t>
            </a:r>
            <a:r>
              <a:rPr lang="en-IN" dirty="0" err="1"/>
              <a:t>PyMuPDF</a:t>
            </a:r>
            <a:r>
              <a:rPr lang="en-IN" dirty="0"/>
              <a:t> </a:t>
            </a:r>
          </a:p>
          <a:p>
            <a:r>
              <a:rPr lang="en-IN" dirty="0"/>
              <a:t>Tables → </a:t>
            </a:r>
            <a:r>
              <a:rPr lang="en-IN" dirty="0" err="1"/>
              <a:t>pdfplumber</a:t>
            </a:r>
            <a:r>
              <a:rPr lang="en-IN" dirty="0"/>
              <a:t> </a:t>
            </a:r>
          </a:p>
          <a:p>
            <a:r>
              <a:rPr lang="en-IN" dirty="0"/>
              <a:t>Scanned PDFs → OCR (Tesseract) </a:t>
            </a:r>
          </a:p>
          <a:p>
            <a:r>
              <a:rPr lang="en-IN" dirty="0"/>
              <a:t>👉 Ensures no data loss across formats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4. Cleaning Module</a:t>
            </a:r>
          </a:p>
          <a:p>
            <a:r>
              <a:rPr lang="en-IN" dirty="0"/>
              <a:t>Removes noise (</a:t>
            </a:r>
            <a:r>
              <a:rPr lang="en-IN" dirty="0" err="1"/>
              <a:t>unicode</a:t>
            </a:r>
            <a:r>
              <a:rPr lang="en-IN" dirty="0"/>
              <a:t>, extra spaces) </a:t>
            </a:r>
          </a:p>
          <a:p>
            <a:r>
              <a:rPr lang="en-IN" dirty="0"/>
              <a:t>Normalizes raw extracted text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5. Chunking Engine</a:t>
            </a:r>
          </a:p>
          <a:p>
            <a:r>
              <a:rPr lang="en-IN" dirty="0"/>
              <a:t>Splits large text into manageable chunks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6. LLM Processing Layer</a:t>
            </a:r>
          </a:p>
          <a:p>
            <a:r>
              <a:rPr lang="en-IN" dirty="0"/>
              <a:t>Model: </a:t>
            </a:r>
            <a:r>
              <a:rPr lang="en-IN" dirty="0" err="1"/>
              <a:t>Groq</a:t>
            </a:r>
            <a:r>
              <a:rPr lang="en-IN" dirty="0"/>
              <a:t> (</a:t>
            </a:r>
            <a:r>
              <a:rPr lang="en-IN" dirty="0" err="1"/>
              <a:t>LLaMA</a:t>
            </a:r>
            <a:r>
              <a:rPr lang="en-IN" dirty="0"/>
              <a:t>-based) </a:t>
            </a:r>
          </a:p>
          <a:p>
            <a:r>
              <a:rPr lang="en-IN" dirty="0"/>
              <a:t>Tasks: </a:t>
            </a:r>
          </a:p>
          <a:p>
            <a:pPr lvl="1"/>
            <a:r>
              <a:rPr lang="en-IN" dirty="0"/>
              <a:t>Fix OCR errors </a:t>
            </a:r>
          </a:p>
          <a:p>
            <a:pPr lvl="1"/>
            <a:r>
              <a:rPr lang="en-IN" dirty="0"/>
              <a:t>Extract requirements </a:t>
            </a:r>
          </a:p>
          <a:p>
            <a:pPr lvl="1"/>
            <a:r>
              <a:rPr lang="en-IN" dirty="0"/>
              <a:t>Classify into Hardware / Software </a:t>
            </a:r>
          </a:p>
          <a:p>
            <a:pPr lvl="1"/>
            <a:r>
              <a:rPr lang="en-IN" dirty="0"/>
              <a:t>Output strict JSON </a:t>
            </a:r>
          </a:p>
          <a:p>
            <a:pPr lvl="1"/>
            <a:endParaRPr lang="en-IN" dirty="0"/>
          </a:p>
          <a:p>
            <a:r>
              <a:rPr lang="en-US" dirty="0"/>
              <a:t>Semantic classification means the AI understands the </a:t>
            </a:r>
            <a:r>
              <a:rPr lang="en-US" i="1" dirty="0"/>
              <a:t>meaning</a:t>
            </a:r>
            <a:r>
              <a:rPr lang="en-US" dirty="0"/>
              <a:t> behind the words — not just the words themselves. So whether it says RAM, volatile memory, or primary storage — the AI knows it's talking about a physical hardware component.</a:t>
            </a:r>
          </a:p>
          <a:p>
            <a:r>
              <a:rPr lang="en-US" dirty="0"/>
              <a:t>That's the core of why our solution works across different documents and writing styles — because we're not matching words, we're understanding intent.“</a:t>
            </a:r>
            <a:endParaRPr lang="en-IN" dirty="0"/>
          </a:p>
          <a:p>
            <a:endParaRPr lang="en-IN" dirty="0"/>
          </a:p>
          <a:p>
            <a:r>
              <a:rPr lang="en-US" dirty="0"/>
              <a:t>But the real brain of this system? </a:t>
            </a:r>
          </a:p>
          <a:p>
            <a:r>
              <a:rPr lang="en-US" dirty="0"/>
              <a:t>"For the AI layer, we used the </a:t>
            </a:r>
            <a:r>
              <a:rPr lang="en-US" b="1" dirty="0"/>
              <a:t>Grok API</a:t>
            </a:r>
            <a:r>
              <a:rPr lang="en-US" dirty="0"/>
              <a:t>. </a:t>
            </a:r>
          </a:p>
          <a:p>
            <a:r>
              <a:rPr lang="en-US" dirty="0"/>
              <a:t>very generous free tier with high rate limits </a:t>
            </a:r>
          </a:p>
          <a:p>
            <a:r>
              <a:rPr lang="en-US" dirty="0"/>
              <a:t>Ideal for a hackathon setting</a:t>
            </a:r>
          </a:p>
          <a:p>
            <a:r>
              <a:rPr lang="en-US" dirty="0"/>
              <a:t>we could process multiple documents rapidly without hitting paywalls or slowdowns. </a:t>
            </a:r>
          </a:p>
          <a:p>
            <a:r>
              <a:rPr lang="en-US" dirty="0"/>
              <a:t>It also handles long-context documents well, which is exactly what government tenders are.“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7. Structuring Layer</a:t>
            </a:r>
          </a:p>
          <a:p>
            <a:r>
              <a:rPr lang="en-IN" dirty="0"/>
              <a:t>Parses LLM JSON output </a:t>
            </a:r>
          </a:p>
          <a:p>
            <a:r>
              <a:rPr lang="en-IN" dirty="0"/>
              <a:t>Handles: </a:t>
            </a:r>
          </a:p>
          <a:p>
            <a:pPr lvl="1"/>
            <a:r>
              <a:rPr lang="en-IN" dirty="0"/>
              <a:t>Invalid JSON </a:t>
            </a:r>
          </a:p>
          <a:p>
            <a:pPr lvl="1"/>
            <a:r>
              <a:rPr lang="en-IN" dirty="0"/>
              <a:t>Missing fields 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  <a:p>
            <a:r>
              <a:rPr lang="en-IN" b="1" dirty="0"/>
              <a:t>9. Output Layer</a:t>
            </a:r>
          </a:p>
          <a:p>
            <a:r>
              <a:rPr lang="en-IN" dirty="0"/>
              <a:t>Generates Excel file: </a:t>
            </a:r>
          </a:p>
          <a:p>
            <a:pPr lvl="1"/>
            <a:r>
              <a:rPr lang="en-IN" dirty="0"/>
              <a:t>Sheet 1 → Hardware Requirements </a:t>
            </a:r>
          </a:p>
          <a:p>
            <a:pPr lvl="1"/>
            <a:r>
              <a:rPr lang="en-IN" dirty="0"/>
              <a:t>Sheet 2 → Software Requirements </a:t>
            </a:r>
          </a:p>
          <a:p>
            <a:br>
              <a:rPr lang="en-IN" dirty="0"/>
            </a:b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BA0F-3E18-102D-B9B7-AA96B04B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A7964-BBF5-363C-DEC7-1BDE4D030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F45C3-2E59-F0DC-5890-7ECFFA663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HLD (High Level Design):</a:t>
            </a:r>
          </a:p>
          <a:p>
            <a:r>
              <a:rPr lang="en-IN" b="1" dirty="0"/>
              <a:t>3. Component Breakdown</a:t>
            </a:r>
          </a:p>
          <a:p>
            <a:r>
              <a:rPr lang="en-IN" b="1" dirty="0"/>
              <a:t>1. Input Layer</a:t>
            </a:r>
          </a:p>
          <a:p>
            <a:r>
              <a:rPr lang="en-IN" dirty="0"/>
              <a:t>Accepts: PDF / Excel / TXT </a:t>
            </a:r>
          </a:p>
          <a:p>
            <a:r>
              <a:rPr lang="en-IN" dirty="0"/>
              <a:t>Handles real-world messy documents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File Detection Module</a:t>
            </a:r>
          </a:p>
          <a:p>
            <a:r>
              <a:rPr lang="en-IN" dirty="0"/>
              <a:t>Identifies file type using: </a:t>
            </a:r>
          </a:p>
          <a:p>
            <a:pPr lvl="1"/>
            <a:r>
              <a:rPr lang="en-IN" dirty="0"/>
              <a:t>Extension </a:t>
            </a:r>
          </a:p>
          <a:p>
            <a:pPr lvl="1"/>
            <a:r>
              <a:rPr lang="en-IN" dirty="0"/>
              <a:t>Binary signature (fallback)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3. Extraction Layer (Core Strength)</a:t>
            </a:r>
          </a:p>
          <a:p>
            <a:r>
              <a:rPr lang="en-IN" b="1" dirty="0"/>
              <a:t>Multi-strategy extraction:</a:t>
            </a:r>
            <a:endParaRPr lang="en-IN" dirty="0"/>
          </a:p>
          <a:p>
            <a:r>
              <a:rPr lang="en-IN" dirty="0"/>
              <a:t>Text → </a:t>
            </a:r>
            <a:r>
              <a:rPr lang="en-IN" dirty="0" err="1"/>
              <a:t>PyMuPDF</a:t>
            </a:r>
            <a:r>
              <a:rPr lang="en-IN" dirty="0"/>
              <a:t> </a:t>
            </a:r>
          </a:p>
          <a:p>
            <a:r>
              <a:rPr lang="en-IN" dirty="0"/>
              <a:t>Tables → </a:t>
            </a:r>
            <a:r>
              <a:rPr lang="en-IN" dirty="0" err="1"/>
              <a:t>pdfplumber</a:t>
            </a:r>
            <a:r>
              <a:rPr lang="en-IN" dirty="0"/>
              <a:t> </a:t>
            </a:r>
          </a:p>
          <a:p>
            <a:r>
              <a:rPr lang="en-IN" dirty="0"/>
              <a:t>Scanned PDFs → OCR (Tesseract) </a:t>
            </a:r>
          </a:p>
          <a:p>
            <a:r>
              <a:rPr lang="en-IN" dirty="0"/>
              <a:t>👉 Ensures no data loss across formats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4. Cleaning Module</a:t>
            </a:r>
          </a:p>
          <a:p>
            <a:r>
              <a:rPr lang="en-IN" dirty="0"/>
              <a:t>Removes noise (</a:t>
            </a:r>
            <a:r>
              <a:rPr lang="en-IN" dirty="0" err="1"/>
              <a:t>unicode</a:t>
            </a:r>
            <a:r>
              <a:rPr lang="en-IN" dirty="0"/>
              <a:t>, extra spaces) </a:t>
            </a:r>
          </a:p>
          <a:p>
            <a:r>
              <a:rPr lang="en-IN" dirty="0"/>
              <a:t>Normalizes raw extracted text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5. Chunking Engine</a:t>
            </a:r>
          </a:p>
          <a:p>
            <a:r>
              <a:rPr lang="en-IN" dirty="0"/>
              <a:t>Splits large text into manageable chunks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6. LLM Processing Layer</a:t>
            </a:r>
          </a:p>
          <a:p>
            <a:r>
              <a:rPr lang="en-IN" dirty="0"/>
              <a:t>Model: </a:t>
            </a:r>
            <a:r>
              <a:rPr lang="en-IN" dirty="0" err="1"/>
              <a:t>Groq</a:t>
            </a:r>
            <a:r>
              <a:rPr lang="en-IN" dirty="0"/>
              <a:t> (</a:t>
            </a:r>
            <a:r>
              <a:rPr lang="en-IN" dirty="0" err="1"/>
              <a:t>LLaMA</a:t>
            </a:r>
            <a:r>
              <a:rPr lang="en-IN" dirty="0"/>
              <a:t>-based) </a:t>
            </a:r>
          </a:p>
          <a:p>
            <a:r>
              <a:rPr lang="en-IN" dirty="0"/>
              <a:t>Tasks: </a:t>
            </a:r>
          </a:p>
          <a:p>
            <a:pPr lvl="1"/>
            <a:r>
              <a:rPr lang="en-IN" dirty="0"/>
              <a:t>Fix OCR errors </a:t>
            </a:r>
          </a:p>
          <a:p>
            <a:pPr lvl="1"/>
            <a:r>
              <a:rPr lang="en-IN" dirty="0"/>
              <a:t>Extract requirements </a:t>
            </a:r>
          </a:p>
          <a:p>
            <a:pPr lvl="1"/>
            <a:r>
              <a:rPr lang="en-IN" dirty="0"/>
              <a:t>Classify into Hardware / Software </a:t>
            </a:r>
          </a:p>
          <a:p>
            <a:pPr lvl="1"/>
            <a:r>
              <a:rPr lang="en-IN" dirty="0"/>
              <a:t>Output strict JSON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7. Structuring Layer</a:t>
            </a:r>
          </a:p>
          <a:p>
            <a:r>
              <a:rPr lang="en-IN" dirty="0"/>
              <a:t>Parses LLM JSON output </a:t>
            </a:r>
          </a:p>
          <a:p>
            <a:r>
              <a:rPr lang="en-IN" dirty="0"/>
              <a:t>Handles: </a:t>
            </a:r>
          </a:p>
          <a:p>
            <a:pPr lvl="1"/>
            <a:r>
              <a:rPr lang="en-IN" dirty="0"/>
              <a:t>Invalid JSON </a:t>
            </a:r>
          </a:p>
          <a:p>
            <a:pPr lvl="1"/>
            <a:r>
              <a:rPr lang="en-IN" dirty="0"/>
              <a:t>Missing fields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8. Post-processing Layer</a:t>
            </a:r>
          </a:p>
          <a:p>
            <a:r>
              <a:rPr lang="en-IN" dirty="0"/>
              <a:t>Enforces strict categorization: </a:t>
            </a:r>
          </a:p>
          <a:p>
            <a:pPr lvl="1"/>
            <a:r>
              <a:rPr lang="en-IN" dirty="0"/>
              <a:t>Hardware vs Software fallback logic </a:t>
            </a:r>
          </a:p>
          <a:p>
            <a:r>
              <a:rPr lang="en-IN" dirty="0"/>
              <a:t>Deduplicates and cleans rows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9. Output Layer</a:t>
            </a:r>
          </a:p>
          <a:p>
            <a:r>
              <a:rPr lang="en-IN" dirty="0"/>
              <a:t>Generates Excel file: </a:t>
            </a:r>
          </a:p>
          <a:p>
            <a:pPr lvl="1"/>
            <a:r>
              <a:rPr lang="en-IN" dirty="0"/>
              <a:t>Sheet 1 → Hardware Requirements </a:t>
            </a:r>
          </a:p>
          <a:p>
            <a:pPr lvl="1"/>
            <a:r>
              <a:rPr lang="en-IN" dirty="0"/>
              <a:t>Sheet 2 → Software Requirements </a:t>
            </a:r>
          </a:p>
          <a:p>
            <a:br>
              <a:rPr lang="en-IN" dirty="0"/>
            </a:br>
            <a:endParaRPr lang="en-IN" dirty="0"/>
          </a:p>
          <a:p>
            <a:r>
              <a:rPr lang="en-US" dirty="0"/>
              <a:t>But the real brain of this system? </a:t>
            </a:r>
          </a:p>
          <a:p>
            <a:r>
              <a:rPr lang="en-US" dirty="0"/>
              <a:t>"For the AI layer, we used the </a:t>
            </a:r>
            <a:r>
              <a:rPr lang="en-US" b="1" dirty="0"/>
              <a:t>Grok API</a:t>
            </a:r>
            <a:r>
              <a:rPr lang="en-US" dirty="0"/>
              <a:t>. </a:t>
            </a:r>
          </a:p>
          <a:p>
            <a:r>
              <a:rPr lang="en-US" dirty="0"/>
              <a:t>very generous free tier with high rate limits </a:t>
            </a:r>
          </a:p>
          <a:p>
            <a:r>
              <a:rPr lang="en-US" dirty="0"/>
              <a:t>Ideal for a hackathon setting</a:t>
            </a:r>
          </a:p>
          <a:p>
            <a:r>
              <a:rPr lang="en-US" dirty="0"/>
              <a:t>we could process multiple documents rapidly without hitting paywalls or slowdowns. </a:t>
            </a:r>
          </a:p>
          <a:p>
            <a:r>
              <a:rPr lang="en-US" dirty="0"/>
              <a:t>It also handles long-context documents well, which is exactly what government tenders are.“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"So let me walk you through how we built this.</a:t>
            </a:r>
          </a:p>
          <a:p>
            <a:r>
              <a:rPr lang="en-US" dirty="0"/>
              <a:t>For the frontend, we used </a:t>
            </a:r>
            <a:r>
              <a:rPr lang="en-US" b="1" dirty="0"/>
              <a:t>v0 by </a:t>
            </a:r>
            <a:r>
              <a:rPr lang="en-US" b="1" dirty="0" err="1"/>
              <a:t>Vercel</a:t>
            </a:r>
            <a:r>
              <a:rPr lang="en-US" dirty="0"/>
              <a:t> — so the interface is clean, fast, and easy for anyone at Acceleron Labs to just drag, drop a document, and get results. No technical knowledge needed on their end.</a:t>
            </a:r>
          </a:p>
          <a:p>
            <a:endParaRPr lang="en-US" dirty="0"/>
          </a:p>
          <a:p>
            <a:r>
              <a:rPr lang="en-US" dirty="0"/>
              <a:t>The backend is powered by </a:t>
            </a:r>
            <a:r>
              <a:rPr lang="en-US" b="1" dirty="0" err="1"/>
              <a:t>FastAPI</a:t>
            </a:r>
            <a:r>
              <a:rPr lang="en-US" b="1" dirty="0"/>
              <a:t> with </a:t>
            </a:r>
            <a:r>
              <a:rPr lang="en-US" b="1" dirty="0" err="1"/>
              <a:t>Uvicorn</a:t>
            </a:r>
            <a:r>
              <a:rPr lang="en-US" dirty="0"/>
              <a:t> — which means our API is lightweight, fast, and production-ready. It handles all the heavy lifting — receiving the file, processing it, talking to the AI, and sending back structured data.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2C73-3C7F-1AA4-6CC4-58823BA5E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726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Limits:</a:t>
            </a:r>
          </a:p>
          <a:p>
            <a:r>
              <a:rPr lang="en-US" dirty="0"/>
              <a:t>Government tenders are long documents. And when you're sending chunk after chunk to the API, you hit the rate limit faster than you'd expect — and the whole process just stops midway.</a:t>
            </a:r>
          </a:p>
          <a:p>
            <a:r>
              <a:rPr lang="en-US" dirty="0"/>
              <a:t>our chunking strategy actually helped here too — smaller chunks meant more controlled, predictable API usage.</a:t>
            </a:r>
          </a:p>
          <a:p>
            <a:endParaRPr lang="en-US" dirty="0"/>
          </a:p>
          <a:p>
            <a:r>
              <a:rPr lang="en-US" dirty="0"/>
              <a:t>Contextual Bleeding:</a:t>
            </a:r>
          </a:p>
          <a:p>
            <a:r>
              <a:rPr lang="en-US" dirty="0"/>
              <a:t>This is where most logic fails. If chunks are too large (3000+ characters), the model loses "Software" signals among "Hardware" noise.</a:t>
            </a:r>
          </a:p>
          <a:p>
            <a:r>
              <a:rPr lang="en-US" b="1" dirty="0"/>
              <a:t>Strategy:</a:t>
            </a:r>
            <a:r>
              <a:rPr lang="en-US" dirty="0"/>
              <a:t> Break text into small, 800–1200 character chunks.</a:t>
            </a:r>
          </a:p>
          <a:p>
            <a:r>
              <a:rPr lang="en-US" b="1" dirty="0"/>
              <a:t>Overlap:</a:t>
            </a:r>
            <a:r>
              <a:rPr lang="en-US" dirty="0"/>
              <a:t> Use a 10% overlap to ensure a requirement split across two chunks isn't lost.</a:t>
            </a:r>
          </a:p>
          <a:p>
            <a:endParaRPr lang="en-US" dirty="0"/>
          </a:p>
          <a:p>
            <a:r>
              <a:rPr lang="en-IN" dirty="0"/>
              <a:t>Dual-Stage Prompting:</a:t>
            </a:r>
          </a:p>
          <a:p>
            <a:r>
              <a:rPr lang="en-US" b="1" dirty="0"/>
              <a:t>Stage A: Role Assumption:</a:t>
            </a:r>
            <a:r>
              <a:rPr lang="en-US" dirty="0"/>
              <a:t> We tell the model it is a "Tender Analyst" for Acceleron Labs.</a:t>
            </a:r>
          </a:p>
          <a:p>
            <a:r>
              <a:rPr lang="en-US" b="1" dirty="0"/>
              <a:t>Stage B: Few-Shot Logic (Not Hardcoding):</a:t>
            </a:r>
            <a:r>
              <a:rPr lang="en-US" dirty="0"/>
              <a:t> We provide 2–3 examples of "tricky" classifications. This isn't hardcoding specific words; it’s teaching the model the </a:t>
            </a:r>
            <a:r>
              <a:rPr lang="en-US" b="1" dirty="0"/>
              <a:t>relationship</a:t>
            </a:r>
            <a:r>
              <a:rPr lang="en-US" dirty="0"/>
              <a:t> between a requirement and its category.</a:t>
            </a:r>
          </a:p>
          <a:p>
            <a:r>
              <a:rPr lang="en-US" i="1" dirty="0"/>
              <a:t>Example:</a:t>
            </a:r>
            <a:r>
              <a:rPr lang="en-US" dirty="0"/>
              <a:t> Teaching the model that "RAID" is a logical configuration (Software) while a "Hard Drive" is physical (Hardware).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df-processor-frontend-cwbklv0jb-bsubhashini07-cybers-projects.vercel.ap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6552" y="-634091"/>
            <a:ext cx="8762999" cy="2415159"/>
          </a:xfrm>
        </p:spPr>
        <p:txBody>
          <a:bodyPr anchor="ctr"/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EBDB4-E75D-8976-61CA-75233E72B40B}"/>
              </a:ext>
            </a:extLst>
          </p:cNvPr>
          <p:cNvSpPr txBox="1"/>
          <p:nvPr/>
        </p:nvSpPr>
        <p:spPr>
          <a:xfrm>
            <a:off x="0" y="6223933"/>
            <a:ext cx="5568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Subhashini and Purvika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0"/>
            <a:ext cx="6987941" cy="11550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6878F-93EE-E8ED-89EF-9227D6C45318}"/>
              </a:ext>
            </a:extLst>
          </p:cNvPr>
          <p:cNvSpPr txBox="1"/>
          <p:nvPr/>
        </p:nvSpPr>
        <p:spPr>
          <a:xfrm>
            <a:off x="626532" y="1388533"/>
            <a:ext cx="113622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tender documents contain critical hardware and software requirements, but they are highly unstructured—spread across tables, paragraphs, and inconsistent formats.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manual extraction slow, error-prone, and inefficient.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automatically extract, interpret, and structure these requirements into a consistent, usable format.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EC59-2710-8C73-A507-F72181BF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744200" cy="502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URL: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https://pdf-processor-frontend-cwbklv0jb-bsubhashini07-cybers-projects.vercel.app/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73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3" y="0"/>
            <a:ext cx="7534656" cy="914400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529C2B-F44A-E1AB-4CD3-AB1A49B6A701}"/>
              </a:ext>
            </a:extLst>
          </p:cNvPr>
          <p:cNvSpPr txBox="1"/>
          <p:nvPr/>
        </p:nvSpPr>
        <p:spPr>
          <a:xfrm>
            <a:off x="3159421" y="1074509"/>
            <a:ext cx="54261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Document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Type Detection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Layer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Engine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Processing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Structuring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Output (Hardware / Software Sheets)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599D-8FBB-4662-902F-97E3C629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0ACE72F-9800-EC11-79BD-8F9FF139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24" y="0"/>
            <a:ext cx="7534656" cy="914400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4E44A7-19B1-3917-B93E-5A9D405464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1624" y="2010448"/>
            <a:ext cx="7273882" cy="303106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/ UI: v0 by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Next.js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/ IDE: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6FFA0-0A2D-0CCF-223B-A37DAC244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2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40933" y="-69850"/>
            <a:ext cx="7636933" cy="914400"/>
          </a:xfrm>
        </p:spPr>
        <p:txBody>
          <a:bodyPr anchor="b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Faced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9885" y="1796143"/>
            <a:ext cx="7786915" cy="4299857"/>
          </a:xfrm>
        </p:spPr>
        <p:txBody>
          <a:bodyPr>
            <a:normAutofit/>
          </a:bodyPr>
          <a:lstStyle/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Limits</a:t>
            </a: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Bleeding</a:t>
            </a: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0933" y="2675466"/>
            <a:ext cx="5892800" cy="15070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273</TotalTime>
  <Words>1076</Words>
  <Application>Microsoft Office PowerPoint</Application>
  <PresentationFormat>Widescreen</PresentationFormat>
  <Paragraphs>193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Acceleron Labs</vt:lpstr>
      <vt:lpstr>Problem Statement</vt:lpstr>
      <vt:lpstr>Website URL:   https://pdf-processor-frontend-cwbklv0jb-bsubhashini07-cybers-projects.vercel.app/   </vt:lpstr>
      <vt:lpstr>Solution Architecture</vt:lpstr>
      <vt:lpstr>Solution Architecture</vt:lpstr>
      <vt:lpstr>Problems Faced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purvika Reddy</dc:creator>
  <cp:lastModifiedBy>purvika Reddy</cp:lastModifiedBy>
  <cp:revision>1</cp:revision>
  <dcterms:created xsi:type="dcterms:W3CDTF">2026-04-04T05:56:34Z</dcterms:created>
  <dcterms:modified xsi:type="dcterms:W3CDTF">2026-04-04T10:31:38Z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